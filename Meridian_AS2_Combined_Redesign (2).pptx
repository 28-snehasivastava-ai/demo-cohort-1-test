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735f5ab-b9ce-0b79-69ea-4430661c269a}">
          <p14:sldIdLst>
            <p14:sldId id="256"/>
          </p14:sldIdLst>
        </p14:section>
        <p14:section name="Deliverable 1" id="{09bc8d18-047f-32b7-ab54-78b8c7a23c3b}">
          <p14:sldIdLst>
            <p14:sldId id="257"/>
            <p14:sldId id="258"/>
            <p14:sldId id="259"/>
          </p14:sldIdLst>
        </p14:section>
        <p14:section name="Deliverable 2" id="{dc73d066-0b7c-97c5-b543-2d265ded9d15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eliverable 3" id="{98b01a84-d83f-2c45-c8f4-0705f9769cc4}">
          <p14:sldIdLst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FORWARD  |  HUMAN CAPITAL MANAGEMENT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FORWARD  |  AS2 DELIVERABLE 2  |  Detailed calculations in accompanying Excel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 for investigation — validate demand, budget, role grade and decision rights before launch.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panel"/>
          <p:cNvSpPr/>
          <p:nvPr/>
        </p:nvSpPr>
        <p:spPr>
          <a:xfrm>
            <a:off x="7223760" y="0"/>
            <a:ext cx="4965192" cy="685800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MANAGEMENT  •  CASE 9.7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</a:t>
            </a:r>
            <a:endParaRPr lang="en-US" sz="6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B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177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business priorities, decision rights and workforce readiness</a:t>
            </a:r>
            <a:endParaRPr lang="en-US" sz="2000" dirty="0"/>
          </a:p>
        </p:txBody>
      </p:sp>
      <p:sp>
        <p:nvSpPr>
          <p:cNvPr id="7" name="Flow card 1"/>
          <p:cNvSpPr/>
          <p:nvPr/>
        </p:nvSpPr>
        <p:spPr>
          <a:xfrm>
            <a:off x="7955280" y="13258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0243E"/>
          </a:solidFill>
          <a:ln w="12700">
            <a:solidFill>
              <a:srgbClr val="3F6A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83880" y="1325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Alignment &amp; SHRBP mandate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</a:t>
            </a:r>
            <a:endParaRPr lang="en-US" sz="1200" dirty="0"/>
          </a:p>
        </p:txBody>
      </p:sp>
      <p:sp>
        <p:nvSpPr>
          <p:cNvPr id="11" name="Flow card 2"/>
          <p:cNvSpPr/>
          <p:nvPr/>
        </p:nvSpPr>
        <p:spPr>
          <a:xfrm>
            <a:off x="7955280" y="32461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0243E"/>
          </a:solidFill>
          <a:ln w="12700">
            <a:solidFill>
              <a:srgbClr val="3F6A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32461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Design and Workforce Plan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82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1200" dirty="0"/>
          </a:p>
        </p:txBody>
      </p:sp>
      <p:sp>
        <p:nvSpPr>
          <p:cNvPr id="15" name="Flow card 3"/>
          <p:cNvSpPr/>
          <p:nvPr/>
        </p:nvSpPr>
        <p:spPr>
          <a:xfrm>
            <a:off x="7955280" y="51663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0243E"/>
          </a:solidFill>
          <a:ln w="12700">
            <a:solidFill>
              <a:srgbClr val="3F6A9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51663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Attraction, Selection and Onboarding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priorities are changing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must build global ownership without weakening the services that already work.</a:t>
            </a:r>
            <a:endParaRPr lang="en-US" sz="1500" dirty="0"/>
          </a:p>
        </p:txBody>
      </p:sp>
      <p:sp>
        <p:nvSpPr>
          <p:cNvPr id="5" name="Context card"/>
          <p:cNvSpPr/>
          <p:nvPr/>
        </p:nvSpPr>
        <p:spPr>
          <a:xfrm>
            <a:off x="548640" y="1828800"/>
            <a:ext cx="47548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042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MGCCI: 8,400 employees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reliable service delivery across established functions. (Case 9.7, P009)</a:t>
            </a:r>
            <a:endParaRPr lang="en-US" sz="1300" dirty="0"/>
          </a:p>
        </p:txBody>
      </p:sp>
      <p:sp>
        <p:nvSpPr>
          <p:cNvPr id="9" name="From box"/>
          <p:cNvSpPr/>
          <p:nvPr/>
        </p:nvSpPr>
        <p:spPr>
          <a:xfrm>
            <a:off x="777240" y="34747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5F8FA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10" name="Towards box"/>
          <p:cNvSpPr/>
          <p:nvPr/>
        </p:nvSpPr>
        <p:spPr>
          <a:xfrm>
            <a:off x="3246120" y="34747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3F1F3"/>
          </a:solidFill>
          <a:ln w="9525">
            <a:solidFill>
              <a:srgbClr val="0F7C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295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749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delivery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35295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749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ownership &amp; original design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6118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Constraint"/>
          <p:cNvSpPr/>
          <p:nvPr/>
        </p:nvSpPr>
        <p:spPr>
          <a:xfrm>
            <a:off x="777240" y="4526280"/>
            <a:ext cx="4297680" cy="685800"/>
          </a:xfrm>
          <a:prstGeom prst="roundRect">
            <a:avLst>
              <a:gd name="adj" fmla="val 10667"/>
            </a:avLst>
          </a:prstGeom>
          <a:solidFill>
            <a:srgbClr val="FBEFDD"/>
          </a:solidFill>
          <a:ln w="9525">
            <a:solidFill>
              <a:srgbClr val="EBC8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5262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existing services must continue within a limited transition budget. (P009)</a:t>
            </a:r>
            <a:endParaRPr lang="en-US" sz="1200" dirty="0"/>
          </a:p>
        </p:txBody>
      </p:sp>
      <p:sp>
        <p:nvSpPr>
          <p:cNvPr id="18" name="Priorities card"/>
          <p:cNvSpPr/>
          <p:nvPr/>
        </p:nvSpPr>
        <p:spPr>
          <a:xfrm>
            <a:off x="5532120" y="1828800"/>
            <a:ext cx="6108192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760720" y="2011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PRIORITIES</a:t>
            </a:r>
            <a:endParaRPr lang="en-US" sz="1100" dirty="0"/>
          </a:p>
        </p:txBody>
      </p:sp>
      <p:sp>
        <p:nvSpPr>
          <p:cNvPr id="20" name="Badge 01"/>
          <p:cNvSpPr/>
          <p:nvPr/>
        </p:nvSpPr>
        <p:spPr>
          <a:xfrm>
            <a:off x="5760720" y="2441448"/>
            <a:ext cx="457200" cy="457200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395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ownership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7797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contributes to global outcomes. (P007–P008)</a:t>
            </a:r>
            <a:endParaRPr lang="en-US" sz="1400" dirty="0"/>
          </a:p>
        </p:txBody>
      </p:sp>
      <p:sp>
        <p:nvSpPr>
          <p:cNvPr id="24" name="Badge 02"/>
          <p:cNvSpPr/>
          <p:nvPr/>
        </p:nvSpPr>
        <p:spPr>
          <a:xfrm>
            <a:off x="5760720" y="3401568"/>
            <a:ext cx="457200" cy="457200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6072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355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&amp; innovation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product cycles, resilience and original design. (P009)</a:t>
            </a:r>
            <a:endParaRPr lang="en-US" sz="1400" dirty="0"/>
          </a:p>
        </p:txBody>
      </p:sp>
      <p:sp>
        <p:nvSpPr>
          <p:cNvPr id="28" name="Badge 03"/>
          <p:cNvSpPr/>
          <p:nvPr/>
        </p:nvSpPr>
        <p:spPr>
          <a:xfrm>
            <a:off x="5760720" y="4361688"/>
            <a:ext cx="457200" cy="457200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072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4315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continuity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47000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established services during the transition. (P009)</a:t>
            </a:r>
            <a:endParaRPr lang="en-US" sz="1400" dirty="0"/>
          </a:p>
        </p:txBody>
      </p:sp>
      <p:sp>
        <p:nvSpPr>
          <p:cNvPr id="32" name="Tension bar"/>
          <p:cNvSpPr/>
          <p:nvPr/>
        </p:nvSpPr>
        <p:spPr>
          <a:xfrm>
            <a:off x="548640" y="548640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0243E"/>
          </a:solidFill>
          <a:ln w="6350">
            <a:solidFill>
              <a:srgbClr val="10243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4864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accountability, but unclear authority and competing workforce demands. (P008–P010; P023–P027)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9.7  •  P007–P027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SHRBP connects strategy to workforce readiness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 is to diagnose what is blocking delivery—not assume every gap needs another hire.</a:t>
            </a:r>
            <a:endParaRPr lang="en-US" sz="1500" dirty="0"/>
          </a:p>
        </p:txBody>
      </p:sp>
      <p:sp>
        <p:nvSpPr>
          <p:cNvPr id="5" name="Step 01"/>
          <p:cNvSpPr/>
          <p:nvPr/>
        </p:nvSpPr>
        <p:spPr>
          <a:xfrm>
            <a:off x="548640" y="182880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Badge 01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116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5176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gap caused by skills, capacity, duplicated work or decision rights? (P026–P027; P052)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86784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tep 02"/>
          <p:cNvSpPr/>
          <p:nvPr/>
        </p:nvSpPr>
        <p:spPr>
          <a:xfrm>
            <a:off x="4398264" y="182880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adge 02"/>
          <p:cNvSpPr/>
          <p:nvPr/>
        </p:nvSpPr>
        <p:spPr>
          <a:xfrm>
            <a:off x="4626864" y="2011680"/>
            <a:ext cx="457200" cy="457200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21224" y="20116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65176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role expectations to authority, workload and business priorities. (P008; P010)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36408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tep 03"/>
          <p:cNvSpPr/>
          <p:nvPr/>
        </p:nvSpPr>
        <p:spPr>
          <a:xfrm>
            <a:off x="8247888" y="182880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adge 03"/>
          <p:cNvSpPr/>
          <p:nvPr/>
        </p:nvSpPr>
        <p:spPr>
          <a:xfrm>
            <a:off x="8476488" y="2011680"/>
            <a:ext cx="457200" cy="457200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7648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70848" y="20116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476488" y="265176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workforce planning, recruitment, L&amp;D and line managers together. (P026–P027)</a:t>
            </a:r>
            <a:endParaRPr lang="en-US" sz="1400" dirty="0"/>
          </a:p>
        </p:txBody>
      </p:sp>
      <p:sp>
        <p:nvSpPr>
          <p:cNvPr id="22" name="Mandate"/>
          <p:cNvSpPr/>
          <p:nvPr/>
        </p:nvSpPr>
        <p:spPr>
          <a:xfrm>
            <a:off x="548640" y="37947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3F1F3"/>
          </a:solidFill>
          <a:ln w="9525">
            <a:solidFill>
              <a:srgbClr val="B7DC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931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SHRBP MANDATE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224528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business priorities into realistic roles, workforce plans and readiness measures. (Proposed response to P023–P027)</a:t>
            </a:r>
            <a:endParaRPr lang="en-US" sz="1400" dirty="0"/>
          </a:p>
        </p:txBody>
      </p:sp>
      <p:sp>
        <p:nvSpPr>
          <p:cNvPr id="25" name="Boundary"/>
          <p:cNvSpPr/>
          <p:nvPr/>
        </p:nvSpPr>
        <p:spPr>
          <a:xfrm>
            <a:off x="6199632" y="37947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BEFDD"/>
          </a:solidFill>
          <a:ln w="9525">
            <a:solidFill>
              <a:srgbClr val="EBC8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8232" y="3931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28232" y="4224528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advises and coordinates; authorised business leaders retain business decision rights. (P008)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6811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responsibilities and decision boundaries explicit so the workforce can deliver.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9.7  •  P008; P023–P027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operating model makes the transition workable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leaders set direction; HR aligns the workforce; line managers protect delivery.</a:t>
            </a:r>
            <a:endParaRPr lang="en-US" sz="1500" dirty="0"/>
          </a:p>
        </p:txBody>
      </p:sp>
      <p:sp>
        <p:nvSpPr>
          <p:cNvPr id="5" name="Column 1"/>
          <p:cNvSpPr/>
          <p:nvPr/>
        </p:nvSpPr>
        <p:spPr>
          <a:xfrm>
            <a:off x="548640" y="1828800"/>
            <a:ext cx="339242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Column head 1"/>
          <p:cNvSpPr/>
          <p:nvPr/>
        </p:nvSpPr>
        <p:spPr>
          <a:xfrm>
            <a:off x="685800" y="1965960"/>
            <a:ext cx="3118104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 w="6350">
            <a:solidFill>
              <a:srgbClr val="1024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6596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LEADERS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priorities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resources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decision authority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6732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9.7, P008–P009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986784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Column 2"/>
          <p:cNvSpPr/>
          <p:nvPr/>
        </p:nvSpPr>
        <p:spPr>
          <a:xfrm>
            <a:off x="4398264" y="1828800"/>
            <a:ext cx="339242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Column head 2"/>
          <p:cNvSpPr/>
          <p:nvPr/>
        </p:nvSpPr>
        <p:spPr>
          <a:xfrm>
            <a:off x="4535424" y="1965960"/>
            <a:ext cx="3118104" cy="457200"/>
          </a:xfrm>
          <a:prstGeom prst="roundRect">
            <a:avLst>
              <a:gd name="adj" fmla="val 12000"/>
            </a:avLst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35424" y="196596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SHRBP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260604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strategy to workforce plans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headcount assumptions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HR responses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376732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response to P026–P027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836408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Column 3"/>
          <p:cNvSpPr/>
          <p:nvPr/>
        </p:nvSpPr>
        <p:spPr>
          <a:xfrm>
            <a:off x="8247888" y="1828800"/>
            <a:ext cx="339242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Column head 3"/>
          <p:cNvSpPr/>
          <p:nvPr/>
        </p:nvSpPr>
        <p:spPr>
          <a:xfrm>
            <a:off x="8385048" y="1965960"/>
            <a:ext cx="3118104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 w="6350">
            <a:solidFill>
              <a:srgbClr val="1024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5048" y="196596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SPECIALISTS + LINE MANAGERS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22208" y="260604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roles and capacity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and develop skills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new and existing work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22208" y="376732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9.7, P027; P061–P079</a:t>
            </a:r>
            <a:endParaRPr lang="en-US" sz="1000" dirty="0"/>
          </a:p>
        </p:txBody>
      </p:sp>
      <p:sp>
        <p:nvSpPr>
          <p:cNvPr id="22" name="Pilot safeguard"/>
          <p:cNvSpPr/>
          <p:nvPr/>
        </p:nvSpPr>
        <p:spPr>
          <a:xfrm>
            <a:off x="548640" y="4297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BEFDD"/>
          </a:solidFill>
          <a:ln w="9525">
            <a:solidFill>
              <a:srgbClr val="EBC8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SAFEGUARD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64515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bounded authority, required access and service cover; track readiness and pause if critical gaps remain. (Case 9.7, P042–P044; P207–P208)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03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</a:t>
            </a:r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ownership without compromising existing services or committing resources on unsupported assumptions. (P009; P051; P207–P208)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9.7  •  P042–P044; P207–P208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600-position request must be validated before hiring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• THE DECISION</a:t>
            </a:r>
            <a:endParaRPr lang="en-US" sz="1100" dirty="0"/>
          </a:p>
        </p:txBody>
      </p:sp>
      <p:sp>
        <p:nvSpPr>
          <p:cNvPr id="4" name="Column 1"/>
          <p:cNvSpPr/>
          <p:nvPr/>
        </p:nvSpPr>
        <p:spPr>
          <a:xfrm>
            <a:off x="548640" y="15087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CASE SAYS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positions requested across engineering, analytics and operations (P023).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calculation assumed 10 squads; only 7 had funded customer demand (P051).</a:t>
            </a:r>
            <a:endParaRPr lang="en-US" sz="1400" dirty="0"/>
          </a:p>
        </p:txBody>
      </p:sp>
      <p:sp>
        <p:nvSpPr>
          <p:cNvPr id="7" name="Column 2"/>
          <p:cNvSpPr/>
          <p:nvPr/>
        </p:nvSpPr>
        <p:spPr>
          <a:xfrm>
            <a:off x="4311396" y="15087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39996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APPROVE AS-IS?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39996" y="201168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Vacancies were treated as productive immediately.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headcount was counted without proving outputs or decision capacity (P051).</a:t>
            </a:r>
            <a:endParaRPr lang="en-US" sz="1400" dirty="0"/>
          </a:p>
        </p:txBody>
      </p:sp>
      <p:sp>
        <p:nvSpPr>
          <p:cNvPr id="10" name="Column 3"/>
          <p:cNvSpPr/>
          <p:nvPr/>
        </p:nvSpPr>
        <p:spPr>
          <a:xfrm>
            <a:off x="8074152" y="15087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02752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01168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funded work → calculate workload → estimate FTE demand → assess deployable supply → choose sourcing.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41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screening calculation</a:t>
            </a:r>
            <a:endParaRPr lang="en-US" sz="1600" dirty="0"/>
          </a:p>
        </p:txBody>
      </p:sp>
      <p:sp>
        <p:nvSpPr>
          <p:cNvPr id="14" name="Calc 1"/>
          <p:cNvSpPr/>
          <p:nvPr/>
        </p:nvSpPr>
        <p:spPr>
          <a:xfrm>
            <a:off x="548640" y="448056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4864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÷ 10 squads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60 positions per squad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484632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7</a:t>
            </a:r>
            <a:endParaRPr lang="en-US" sz="2400" dirty="0"/>
          </a:p>
        </p:txBody>
      </p:sp>
      <p:sp>
        <p:nvSpPr>
          <p:cNvPr id="18" name="Calc 2"/>
          <p:cNvSpPr/>
          <p:nvPr/>
        </p:nvSpPr>
        <p:spPr>
          <a:xfrm>
            <a:off x="4343400" y="448056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E3F1F3"/>
          </a:solidFill>
          <a:ln w="9525">
            <a:solidFill>
              <a:srgbClr val="0F7C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34340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420 positions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screened request</a:t>
            </a:r>
            <a:endParaRPr lang="en-US" sz="1400" dirty="0"/>
          </a:p>
        </p:txBody>
      </p:sp>
      <p:sp>
        <p:nvSpPr>
          <p:cNvPr id="21" name="Interpretation"/>
          <p:cNvSpPr/>
          <p:nvPr/>
        </p:nvSpPr>
        <p:spPr>
          <a:xfrm>
            <a:off x="7589520" y="4480560"/>
            <a:ext cx="4050792" cy="1371600"/>
          </a:xfrm>
          <a:prstGeom prst="roundRect">
            <a:avLst>
              <a:gd name="adj" fmla="val 5333"/>
            </a:avLst>
          </a:prstGeom>
          <a:solidFill>
            <a:srgbClr val="F8E4DF"/>
          </a:solidFill>
          <a:ln w="9525">
            <a:solidFill>
              <a:srgbClr val="E5B7A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84632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assumes equal staffing per squad. It is not the final hiring number; role mix and internal supply remain untested.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basis: P023, P051. Detailed calculations and assumptions are retained in Excel.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funded work into an illustrative FTE requirement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DEMAND CALCULATION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</a:t>
            </a:r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funded squads • 40 paid hours/FTE/week • 70% productive availability = 28 productive hours/FTE/week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468880"/>
                <a:gridCol w="2651760"/>
                <a:gridCol w="1764792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 hours/week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 calculation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8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÷ 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8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 ÷ 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8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 ÷ 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&amp; resilience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8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÷ 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/ operations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8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 ÷ 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operations / transition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8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 ÷ 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transfer / L&amp;D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8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 ÷ 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planning / org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8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÷ 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2,408 ÷ 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FTE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</a:tr>
            </a:tbl>
          </a:graphicData>
        </a:graphic>
      </p:graphicFrame>
      <p:sp>
        <p:nvSpPr>
          <p:cNvPr id="6" name="Scenario note"/>
          <p:cNvSpPr/>
          <p:nvPr/>
        </p:nvSpPr>
        <p:spPr>
          <a:xfrm>
            <a:off x="548640" y="54406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BEFDD"/>
          </a:solidFill>
          <a:ln w="9525">
            <a:solidFill>
              <a:srgbClr val="EBC89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440680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 A SCENARIO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hours are illustrative assumptions—not figures in the case. Validate them against actual deliverables, project plans and service commitments.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headcount is not the same as deployable capacity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SUPPLY AND GAP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</a:t>
            </a:r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FTE = talent pool × skill readiness × protected time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005840"/>
                <a:gridCol w="1280160"/>
                <a:gridCol w="1554480"/>
                <a:gridCol w="1554480"/>
                <a:gridCol w="1188720"/>
                <a:gridCol w="1124712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Skill-ready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Deployable FTE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/ ops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transfer / L&amp;D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planning / org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3"/>
                    </a:solidFill>
                  </a:tcPr>
                </a:tc>
              </a:tr>
            </a:tbl>
          </a:graphicData>
        </a:graphic>
      </p:graphicFrame>
      <p:sp>
        <p:nvSpPr>
          <p:cNvPr id="6" name="Supply note"/>
          <p:cNvSpPr/>
          <p:nvPr/>
        </p:nvSpPr>
        <p:spPr>
          <a:xfrm>
            <a:off x="548640" y="54406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BEFDD"/>
          </a:solidFill>
          <a:ln w="9525">
            <a:solidFill>
              <a:srgbClr val="EBC89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440680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supply inputs are assumptions. The ≈49 FTE gap is a gross capacity gap—not an external-hiring commitment.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roles must solve specific work needs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• WORK DESIGN AND ROLES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840480"/>
                <a:gridCol w="36850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need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Work-design 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manager /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Prioritise outcomes and coordinate dependencies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Formalise role; define decision boundaries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/ software 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Build, test and maintain platform/product 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 / redeploy selectively; protect legacy cover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analytics specialist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reliable analysis and reusable data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duplicate data prep before scaling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/ resilience specialist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systems and operational resilience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 core controls; fill validated scarce-skill gaps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/ operations analyst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handoffs and remove avoidable waiting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Redesign process before adding recurring 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operations specialist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service quality during transition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minimum service cover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transfer / L&amp;D specialist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tacit knowledge and enable practice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transition 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planning / org design analyst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demand, roles and workforce 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pilot planning 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Sourcing rule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3F1F3"/>
          </a:solidFill>
          <a:ln w="9525">
            <a:solidFill>
              <a:srgbClr val="B7DC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6928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rule: </a:t>
            </a:r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redesign/stop unnecessary work → redeploy/develop → use vendors appropriately → recruit for persistent funded gaps.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Selected Job Descriptions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FORWARD  |  AS2 • WORKFORCE PLANNING</a:t>
            </a:r>
            <a:endParaRPr lang="en-US" sz="1100" dirty="0"/>
          </a:p>
        </p:txBody>
      </p:sp>
      <p:sp>
        <p:nvSpPr>
          <p:cNvPr id="4" name="JD 1"/>
          <p:cNvSpPr/>
          <p:nvPr/>
        </p:nvSpPr>
        <p:spPr>
          <a:xfrm>
            <a:off x="548640" y="146304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JD head 1"/>
          <p:cNvSpPr/>
          <p:nvPr/>
        </p:nvSpPr>
        <p:spPr>
          <a:xfrm>
            <a:off x="685800" y="1572768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 w="6350">
            <a:solidFill>
              <a:srgbClr val="1024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SOFTWARE ENGINEER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396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SUMMARY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957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 and maintain reliable platform and product components for funded squads.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SPECIFICATIONS — DUTIES &amp; RESPONSIBILITIES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8211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Develop, test and maintain code; resolve defects.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secure development and reliability practices.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technical decisions and support legacy handovers.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product, data, cybersecurity and operations.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15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QUALIFICATIONS — SKILLS &amp; EXPERIENCE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7200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skills demonstrated through experience or a work sample.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of testing, debugging, version control and secure coding.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within approved architecture; escalates exceptions and customer/budget commitments.</a:t>
            </a:r>
            <a:endParaRPr lang="en-US" sz="1200" dirty="0"/>
          </a:p>
        </p:txBody>
      </p:sp>
      <p:sp>
        <p:nvSpPr>
          <p:cNvPr id="13" name="JD 2"/>
          <p:cNvSpPr/>
          <p:nvPr/>
        </p:nvSpPr>
        <p:spPr>
          <a:xfrm>
            <a:off x="6199632" y="146304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JD head 2"/>
          <p:cNvSpPr/>
          <p:nvPr/>
        </p:nvSpPr>
        <p:spPr>
          <a:xfrm>
            <a:off x="6336792" y="1572768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6792" y="157276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SPECIALIST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21396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SUMMARY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3957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governed data into reliable insights for product and operational decisions.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2926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SPECIFICATIONS — DUTIES &amp; RESPONSIBILITIES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318211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Gather, validate, transform and analyse approved data.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analyses, dashboards or data products.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 quality, assumptions and limitations.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findings to product, engineering and operations teams.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4315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QUALIFICATIONS — SKILLS &amp; EXPERIENCE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457200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SQL/querying, data visualisation and analytical reasoning.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validate data and explain findings clearly.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within approved governance; cannot grant data access or approve policy/architecture exceptions.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 and salary require HR confirmation; the case does not provide these details.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gap in stages—protect service continuity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• RECOMMENDATION</a:t>
            </a:r>
            <a:endParaRPr lang="en-US" sz="1100" dirty="0"/>
          </a:p>
        </p:txBody>
      </p:sp>
      <p:sp>
        <p:nvSpPr>
          <p:cNvPr id="4" name="Scenario"/>
          <p:cNvSpPr/>
          <p:nvPr/>
        </p:nvSpPr>
        <p:spPr>
          <a:xfrm>
            <a:off x="548640" y="15087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≈ 49 FTE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− 10 FTE internal development / redeployment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− 8 FTE vendor / contract capacity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− 6 FTE redesign / automation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25 external hires</a:t>
            </a:r>
            <a:endParaRPr lang="en-US" sz="1400" dirty="0"/>
          </a:p>
        </p:txBody>
      </p:sp>
      <p:sp>
        <p:nvSpPr>
          <p:cNvPr id="7" name="Not approved"/>
          <p:cNvSpPr/>
          <p:nvPr/>
        </p:nvSpPr>
        <p:spPr>
          <a:xfrm>
            <a:off x="4311396" y="15087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BEFDD"/>
          </a:solidFill>
          <a:ln w="9525">
            <a:solidFill>
              <a:srgbClr val="EBC8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9996" y="1645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AN APPROVED TARGET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39996" y="19659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10, 8 and 6 FTE offsets are assumptions, not case evidence.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skill fit, vendor deliverables, redesign benefits, cost and hiring lead times.</a:t>
            </a:r>
            <a:endParaRPr lang="en-US" sz="1400" dirty="0"/>
          </a:p>
        </p:txBody>
      </p:sp>
      <p:sp>
        <p:nvSpPr>
          <p:cNvPr id="10" name="Guardrails"/>
          <p:cNvSpPr/>
          <p:nvPr/>
        </p:nvSpPr>
        <p:spPr>
          <a:xfrm>
            <a:off x="8074152" y="15087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02752" y="1645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GUARDRAILS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196596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existing service cover.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knowledge-transfer time.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access and decision rights.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if service performance materially deteriorates.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sequence</a:t>
            </a:r>
            <a:endParaRPr lang="en-US" sz="1600" dirty="0"/>
          </a:p>
        </p:txBody>
      </p:sp>
      <p:sp>
        <p:nvSpPr>
          <p:cNvPr id="14" name="Step 1"/>
          <p:cNvSpPr/>
          <p:nvPr/>
        </p:nvSpPr>
        <p:spPr>
          <a:xfrm>
            <a:off x="548640" y="43891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adge 1"/>
          <p:cNvSpPr/>
          <p:nvPr/>
        </p:nvSpPr>
        <p:spPr>
          <a:xfrm>
            <a:off x="685800" y="4590288"/>
            <a:ext cx="384048" cy="384048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43891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demand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4526280"/>
            <a:ext cx="527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tep 2"/>
          <p:cNvSpPr/>
          <p:nvPr/>
        </p:nvSpPr>
        <p:spPr>
          <a:xfrm>
            <a:off x="3453384" y="43891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adge 2"/>
          <p:cNvSpPr/>
          <p:nvPr/>
        </p:nvSpPr>
        <p:spPr>
          <a:xfrm>
            <a:off x="3590544" y="4590288"/>
            <a:ext cx="384048" cy="384048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90544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075176" y="43891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internal supply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830824" y="4526280"/>
            <a:ext cx="527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tep 3"/>
          <p:cNvSpPr/>
          <p:nvPr/>
        </p:nvSpPr>
        <p:spPr>
          <a:xfrm>
            <a:off x="6358128" y="43891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Badge 3"/>
          <p:cNvSpPr/>
          <p:nvPr/>
        </p:nvSpPr>
        <p:spPr>
          <a:xfrm>
            <a:off x="6495288" y="4590288"/>
            <a:ext cx="384048" cy="384048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5288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79920" y="43891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sourcing mix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735568" y="4526280"/>
            <a:ext cx="527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tep 4"/>
          <p:cNvSpPr/>
          <p:nvPr/>
        </p:nvSpPr>
        <p:spPr>
          <a:xfrm>
            <a:off x="9262872" y="43891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adge 4"/>
          <p:cNvSpPr/>
          <p:nvPr/>
        </p:nvSpPr>
        <p:spPr>
          <a:xfrm>
            <a:off x="9400032" y="4590288"/>
            <a:ext cx="384048" cy="384048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00032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884664" y="43891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hires in stages</a:t>
            </a:r>
            <a:endParaRPr lang="en-US" sz="1400" dirty="0"/>
          </a:p>
        </p:txBody>
      </p:sp>
      <p:sp>
        <p:nvSpPr>
          <p:cNvPr id="33" name="Recommendation bar"/>
          <p:cNvSpPr/>
          <p:nvPr/>
        </p:nvSpPr>
        <p:spPr>
          <a:xfrm>
            <a:off x="548640" y="5321808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0243E"/>
          </a:solidFill>
          <a:ln w="6350">
            <a:solidFill>
              <a:srgbClr val="10243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321808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seven-squad workload, authorise a bounded pilot, and approve recruitment only against evidenced role gaps, transition cover and budget.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references: P023–P027, P050–P052, P187–P190, P207–P208. Detailed model remains in Excel.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Attraction: make the employee proposition credible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FORWARD  |  DELIVERABLE 3   •  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two priority JDs carried forward from Deliverable 2; expand only after role validation.</a:t>
            </a:r>
            <a:endParaRPr lang="en-US" sz="1500" dirty="0"/>
          </a:p>
        </p:txBody>
      </p:sp>
      <p:sp>
        <p:nvSpPr>
          <p:cNvPr id="5" name="Card 1"/>
          <p:cNvSpPr/>
          <p:nvPr/>
        </p:nvSpPr>
        <p:spPr>
          <a:xfrm>
            <a:off x="548640" y="1828800"/>
            <a:ext cx="54406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Head 1"/>
          <p:cNvSpPr/>
          <p:nvPr/>
        </p:nvSpPr>
        <p:spPr>
          <a:xfrm>
            <a:off x="685800" y="1938528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 w="6350">
            <a:solidFill>
              <a:srgbClr val="1024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3852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SOFTWARE ENGINEER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reliable platform capabilities and solve product problems with cross-functional teams.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mobility, referrals, targeted engineering communities and relevant professional platforms.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 about approved architecture, security boundaries and legacy-service duties.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6199632" y="1828800"/>
            <a:ext cx="54406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Head 2"/>
          <p:cNvSpPr/>
          <p:nvPr/>
        </p:nvSpPr>
        <p:spPr>
          <a:xfrm>
            <a:off x="6336792" y="1938528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36792" y="193852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SPECIALIST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6060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trusted data into insights used in business decisions; reduce duplicate preparation.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analytics talent, referrals, data communities and relevant professional platforms.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 about data access, governance and the expectation that insights inform decisions.</a:t>
            </a:r>
            <a:endParaRPr lang="en-US" sz="1400" dirty="0"/>
          </a:p>
        </p:txBody>
      </p:sp>
      <p:sp>
        <p:nvSpPr>
          <p:cNvPr id="13" name="Warning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BEFDD"/>
          </a:solidFill>
          <a:ln w="9525">
            <a:solidFill>
              <a:srgbClr val="EBC8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34924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invent salary, grade, work mode or technology stack: validate with HR, Finance and the hiring manager before posting.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must be tailored to the role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FORWARD  |  DELIVERABLE 3   •  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structured, job-related evidence—not one identical test for every vacancy.</a:t>
            </a:r>
            <a:endParaRPr lang="en-US" sz="1500" dirty="0"/>
          </a:p>
        </p:txBody>
      </p:sp>
      <p:sp>
        <p:nvSpPr>
          <p:cNvPr id="5" name="Stage 1"/>
          <p:cNvSpPr/>
          <p:nvPr/>
        </p:nvSpPr>
        <p:spPr>
          <a:xfrm>
            <a:off x="548640" y="1828800"/>
            <a:ext cx="339242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Badge 1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116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29352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only approved essential criteria.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evidence of relevant skills and experience; avoid prestige or familiarity as proxies.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86784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tage 2"/>
          <p:cNvSpPr/>
          <p:nvPr/>
        </p:nvSpPr>
        <p:spPr>
          <a:xfrm>
            <a:off x="4398264" y="1828800"/>
            <a:ext cx="339242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adge 2"/>
          <p:cNvSpPr/>
          <p:nvPr/>
        </p:nvSpPr>
        <p:spPr>
          <a:xfrm>
            <a:off x="4626864" y="2011680"/>
            <a:ext cx="457200" cy="457200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21224" y="20116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SAMPLE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697480"/>
            <a:ext cx="29352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coding/debugging or code review.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 small dataset, explain limitations and present a decision-ready insight.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36408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tage 3"/>
          <p:cNvSpPr/>
          <p:nvPr/>
        </p:nvSpPr>
        <p:spPr>
          <a:xfrm>
            <a:off x="8247888" y="1828800"/>
            <a:ext cx="339242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adge 3"/>
          <p:cNvSpPr/>
          <p:nvPr/>
        </p:nvSpPr>
        <p:spPr>
          <a:xfrm>
            <a:off x="8476488" y="2011680"/>
            <a:ext cx="457200" cy="457200"/>
          </a:xfrm>
          <a:prstGeom prst="ellipse">
            <a:avLst/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7648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70848" y="201168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INTERVIEW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76488" y="2697480"/>
            <a:ext cx="29352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questions and anchored scoring for candidates in the same role.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trade-offs, collaboration, documentation, risk judgement and escalation.</a:t>
            </a:r>
            <a:endParaRPr lang="en-US" sz="1400" dirty="0"/>
          </a:p>
        </p:txBody>
      </p:sp>
      <p:sp>
        <p:nvSpPr>
          <p:cNvPr id="22" name="Safeguards"/>
          <p:cNvSpPr/>
          <p:nvPr/>
        </p:nvSpPr>
        <p:spPr>
          <a:xfrm>
            <a:off x="548640" y="521208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E1F1E9"/>
          </a:solidFill>
          <a:ln w="9525">
            <a:solidFill>
              <a:srgbClr val="B5D9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21208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Safeguards: </a:t>
            </a:r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accommodations • independent scoring before panel discussion • human review • documented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is operational readiness—not paperwork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FORWARD  |  DELIVERABLE 3   •   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hire cannot deliver if access, decision rights, workflow knowledge or service cover is missing.</a:t>
            </a:r>
            <a:endParaRPr lang="en-US" sz="1500" dirty="0"/>
          </a:p>
        </p:txBody>
      </p:sp>
      <p:sp>
        <p:nvSpPr>
          <p:cNvPr id="5" name="Row 1"/>
          <p:cNvSpPr/>
          <p:nvPr/>
        </p:nvSpPr>
        <p:spPr>
          <a:xfrm>
            <a:off x="548640" y="1828800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Phase 1"/>
          <p:cNvSpPr/>
          <p:nvPr/>
        </p:nvSpPr>
        <p:spPr>
          <a:xfrm>
            <a:off x="658368" y="1920240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C973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920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PRE-BOARD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828800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JD, reporting line, access requests, boundaries and first-90-day outcomes.</a:t>
            </a:r>
            <a:endParaRPr lang="en-US" sz="1400" dirty="0"/>
          </a:p>
        </p:txBody>
      </p:sp>
      <p:sp>
        <p:nvSpPr>
          <p:cNvPr id="9" name="Row 2"/>
          <p:cNvSpPr/>
          <p:nvPr/>
        </p:nvSpPr>
        <p:spPr>
          <a:xfrm>
            <a:off x="548640" y="2505456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Phase 2"/>
          <p:cNvSpPr/>
          <p:nvPr/>
        </p:nvSpPr>
        <p:spPr>
          <a:xfrm>
            <a:off x="658368" y="2596896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1024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5968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mandate, workflow, stakeholders, escalation paths, controls and success measures.</a:t>
            </a:r>
            <a:endParaRPr lang="en-US" sz="1400" dirty="0"/>
          </a:p>
        </p:txBody>
      </p:sp>
      <p:sp>
        <p:nvSpPr>
          <p:cNvPr id="13" name="Row 3"/>
          <p:cNvSpPr/>
          <p:nvPr/>
        </p:nvSpPr>
        <p:spPr>
          <a:xfrm>
            <a:off x="548640" y="3182112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Phase 3"/>
          <p:cNvSpPr/>
          <p:nvPr/>
        </p:nvSpPr>
        <p:spPr>
          <a:xfrm>
            <a:off x="658368" y="327355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0F7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2735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11–30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3182112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Shadowing, protected SME time, access verification and first bounded work sample.</a:t>
            </a:r>
            <a:endParaRPr lang="en-US" sz="1400" dirty="0"/>
          </a:p>
        </p:txBody>
      </p:sp>
      <p:sp>
        <p:nvSpPr>
          <p:cNvPr id="17" name="Row 4"/>
          <p:cNvSpPr/>
          <p:nvPr/>
        </p:nvSpPr>
        <p:spPr>
          <a:xfrm>
            <a:off x="548640" y="3858768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Phase 4"/>
          <p:cNvSpPr/>
          <p:nvPr/>
        </p:nvSpPr>
        <p:spPr>
          <a:xfrm>
            <a:off x="658368" y="3950208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1024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9502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3858768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delivery, weekly feedback, documentation and role-specific measures.</a:t>
            </a:r>
            <a:endParaRPr lang="en-US" sz="1400" dirty="0"/>
          </a:p>
        </p:txBody>
      </p:sp>
      <p:sp>
        <p:nvSpPr>
          <p:cNvPr id="21" name="Row 5"/>
          <p:cNvSpPr/>
          <p:nvPr/>
        </p:nvSpPr>
        <p:spPr>
          <a:xfrm>
            <a:off x="548640" y="4535424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Phase 5"/>
          <p:cNvSpPr/>
          <p:nvPr/>
        </p:nvSpPr>
        <p:spPr>
          <a:xfrm>
            <a:off x="658368" y="4626864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0F7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6268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606040" y="4535424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readiness review; expand scope only if capability, access and authority align.</a:t>
            </a:r>
            <a:endParaRPr lang="en-US" sz="1400" dirty="0"/>
          </a:p>
        </p:txBody>
      </p:sp>
      <p:sp>
        <p:nvSpPr>
          <p:cNvPr id="25" name="Legacy note"/>
          <p:cNvSpPr/>
          <p:nvPr/>
        </p:nvSpPr>
        <p:spPr>
          <a:xfrm>
            <a:off x="548640" y="53035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BEFDD"/>
          </a:solidFill>
          <a:ln w="9525">
            <a:solidFill>
              <a:srgbClr val="EBC8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303520"/>
            <a:ext cx="10652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legacy service cover while specialists transfer tacit knowledge; documentation alone is not enough. (P027; P069–P071; P077–P079)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Ownership, timeline and readiness measures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FORWARD  |  DELIVERABLE 3   •  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sequence; final costs depend on approved headcount, grades, pay bands and sourcing choices.</a:t>
            </a:r>
            <a:endParaRPr lang="en-US" sz="1500" dirty="0"/>
          </a:p>
        </p:txBody>
      </p:sp>
      <p:sp>
        <p:nvSpPr>
          <p:cNvPr id="5" name="Phase 0"/>
          <p:cNvSpPr/>
          <p:nvPr/>
        </p:nvSpPr>
        <p:spPr>
          <a:xfrm>
            <a:off x="548640" y="182880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Head 0"/>
          <p:cNvSpPr/>
          <p:nvPr/>
        </p:nvSpPr>
        <p:spPr>
          <a:xfrm>
            <a:off x="685800" y="1938528"/>
            <a:ext cx="3118104" cy="502920"/>
          </a:xfrm>
          <a:prstGeom prst="roundRect">
            <a:avLst>
              <a:gd name="adj" fmla="val 10909"/>
            </a:avLst>
          </a:prstGeom>
          <a:solidFill>
            <a:srgbClr val="C9731A"/>
          </a:solidFill>
          <a:ln w="6350">
            <a:solidFill>
              <a:srgbClr val="C97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3852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 • APPROVE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29352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sponsor + HR + Finance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funded demand, role grade, salary band, work mode, authority profile and BAU cover before recruitment begins.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986784" y="3154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Phase 1"/>
          <p:cNvSpPr/>
          <p:nvPr/>
        </p:nvSpPr>
        <p:spPr>
          <a:xfrm>
            <a:off x="4398264" y="182880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Head 1"/>
          <p:cNvSpPr/>
          <p:nvPr/>
        </p:nvSpPr>
        <p:spPr>
          <a:xfrm>
            <a:off x="4535424" y="1938528"/>
            <a:ext cx="3118104" cy="502920"/>
          </a:xfrm>
          <a:prstGeom prst="roundRect">
            <a:avLst>
              <a:gd name="adj" fmla="val 10909"/>
            </a:avLst>
          </a:prstGeom>
          <a:solidFill>
            <a:srgbClr val="10243E"/>
          </a:solidFill>
          <a:ln w="6350">
            <a:solidFill>
              <a:srgbClr val="1024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5424" y="193852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1–5 • ATTRACT &amp; SELECT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651760"/>
            <a:ext cx="29352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 + hiring manager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qualified applicants, time-to-shortlist, stage pass rates, scoring consistency, candidate withdrawals and fairness signals.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36408" y="3154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Phase 2"/>
          <p:cNvSpPr/>
          <p:nvPr/>
        </p:nvSpPr>
        <p:spPr>
          <a:xfrm>
            <a:off x="8247888" y="182880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Head 2"/>
          <p:cNvSpPr/>
          <p:nvPr/>
        </p:nvSpPr>
        <p:spPr>
          <a:xfrm>
            <a:off x="8385048" y="1938528"/>
            <a:ext cx="3118104" cy="502920"/>
          </a:xfrm>
          <a:prstGeom prst="roundRect">
            <a:avLst>
              <a:gd name="adj" fmla="val 10909"/>
            </a:avLst>
          </a:prstGeom>
          <a:solidFill>
            <a:srgbClr val="0F7C8A"/>
          </a:solidFill>
          <a:ln w="6350">
            <a:solidFill>
              <a:srgbClr val="0F7C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85048" y="193852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1–90 • ENABLE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2651760"/>
            <a:ext cx="29352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+ SME + IT/Security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access readiness, task quality, rework, time-to-productivity, knowledge-transfer evidence and service performance.</a:t>
            </a:r>
            <a:endParaRPr lang="en-US" sz="1400" dirty="0"/>
          </a:p>
        </p:txBody>
      </p:sp>
      <p:sp>
        <p:nvSpPr>
          <p:cNvPr id="19" name="Budget rule"/>
          <p:cNvSpPr/>
          <p:nvPr/>
        </p:nvSpPr>
        <p:spPr>
          <a:xfrm>
            <a:off x="548640" y="53492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3F1F3"/>
          </a:solidFill>
          <a:ln w="9525">
            <a:solidFill>
              <a:srgbClr val="B7DC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349240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rule: </a:t>
            </a:r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protected SME time and service cover; separate committed spend from contingent benefits; pause if demand or authority changes.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and decision gates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FORWARD  |  DELIVERABLE 3   •   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recruitment process should not be used to compensate for unresolved organisation-design problems.</a:t>
            </a:r>
            <a:endParaRPr lang="en-US" sz="1500" dirty="0"/>
          </a:p>
        </p:txBody>
      </p:sp>
      <p:sp>
        <p:nvSpPr>
          <p:cNvPr id="5" name="Recommend"/>
          <p:cNvSpPr/>
          <p:nvPr/>
        </p:nvSpPr>
        <p:spPr>
          <a:xfrm>
            <a:off x="548640" y="18288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Recommend head"/>
          <p:cNvSpPr/>
          <p:nvPr/>
        </p:nvSpPr>
        <p:spPr>
          <a:xfrm>
            <a:off x="685800" y="1938528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 w="6350">
            <a:solidFill>
              <a:srgbClr val="2E7D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3852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709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workforce gap and funded demand.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honest, role-specific job propositions.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work samples and structured interviews tied to the JD.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 access, supervised practice and protected knowledge transfer.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readiness at 30/60/90 days.</a:t>
            </a:r>
            <a:endParaRPr lang="en-US" sz="1400" dirty="0"/>
          </a:p>
        </p:txBody>
      </p:sp>
      <p:sp>
        <p:nvSpPr>
          <p:cNvPr id="9" name="Pause"/>
          <p:cNvSpPr/>
          <p:nvPr/>
        </p:nvSpPr>
        <p:spPr>
          <a:xfrm>
            <a:off x="6199632" y="18288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Pause head"/>
          <p:cNvSpPr/>
          <p:nvPr/>
        </p:nvSpPr>
        <p:spPr>
          <a:xfrm>
            <a:off x="6336792" y="1938528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B8452F"/>
          </a:solidFill>
          <a:ln w="6350">
            <a:solidFill>
              <a:srgbClr val="B8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36792" y="193852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/ REVISE IF…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606040"/>
            <a:ext cx="4983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role’s authority is unclear or contradicts the JD.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access or customer conversations are unavailable.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cannot be released without harming legacy services.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demand or budget changes.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scores lack job-related evidence or fairness safeguards.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321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basis: P008–P011, P024–P027, P073–P079, P187–P190, P207–P208. Detailed process, owners and measures are in the companion Excel workbook.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8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idian Forward">
  <a:themeElements>
    <a:clrScheme name="Meridian Forward">
      <a:dk1>
        <a:srgbClr val="1F2937"/>
      </a:dk1>
      <a:lt1>
        <a:srgbClr val="FFFFFF"/>
      </a:lt1>
      <a:dk2>
        <a:srgbClr val="10243E"/>
      </a:dk2>
      <a:lt2>
        <a:srgbClr val="F5F8FA"/>
      </a:lt2>
      <a:accent1>
        <a:srgbClr val="0F7C8A"/>
      </a:accent1>
      <a:accent2>
        <a:srgbClr val="C9731A"/>
      </a:accent2>
      <a:accent3>
        <a:srgbClr val="B8452F"/>
      </a:accent3>
      <a:accent4>
        <a:srgbClr val="2E7D5B"/>
      </a:accent4>
      <a:accent5>
        <a:srgbClr val="1B3A5F"/>
      </a:accent5>
      <a:accent6>
        <a:srgbClr val="5B6877"/>
      </a:accent6>
      <a:hlink>
        <a:srgbClr val="0F7C8A"/>
      </a:hlink>
      <a:folHlink>
        <a:srgbClr val="5B6877"/>
      </a:folHlink>
    </a:clrScheme>
    <a:fontScheme name="Meridian Forw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Forward — AS2 Combined Deck</dc:title>
  <dc:subject>PptxGenJS Presentation</dc:subject>
  <dc:creator>Shirsh</dc:creator>
  <cp:lastModifiedBy>Shirsh</cp:lastModifiedBy>
  <cp:revision>1</cp:revision>
  <dcterms:created xsi:type="dcterms:W3CDTF">2026-10-24T09:59:37Z</dcterms:created>
  <dcterms:modified xsi:type="dcterms:W3CDTF">2026-10-24T09:59:37Z</dcterms:modified>
</cp:coreProperties>
</file>